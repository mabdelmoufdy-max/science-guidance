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64008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822960"/>
            <a:ext cx="356616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66751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800" b="1" lang="ar-EG">
                <a:solidFill>
                  <a:srgbClr val="FFFFFF"/>
                </a:solidFill>
                <a:latin typeface="Arial"/>
                <a:cs typeface="Arial"/>
              </a:rPr>
              <a:t>نظام توجيه العلوم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66751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000" b="1" lang="ar-EG">
                <a:solidFill>
                  <a:srgbClr val="FBE599"/>
                </a:solidFill>
                <a:latin typeface="Arial"/>
                <a:cs typeface="Arial"/>
              </a:rPr>
              <a:t>والجداول المدرسية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66751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FFFFFF"/>
                </a:solidFill>
                <a:latin typeface="Arial"/>
                <a:cs typeface="Arial"/>
              </a:rPr>
              <a:t>نظام واحد يربط المدرسة بالموجّه بالإدارة،</a:t>
            </a:r>
          </a:p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FFFFFF"/>
                </a:solidFill>
                <a:latin typeface="Arial"/>
                <a:cs typeface="Arial"/>
              </a:rPr>
              <a:t>ويضع كل مسؤول أمام نطاقه ومسؤولياته فقط.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عرض المشروع — الموجّه الأول والموجّهون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00" b="0" lang="ar-EG">
                <a:solidFill>
                  <a:srgbClr val="FBE599"/>
                </a:solidFill>
                <a:latin typeface="Arial"/>
                <a:cs typeface="Arial"/>
              </a:rPr>
              <a:t>إدارة قوص التعليمية — العام الدراسي 2026/2027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000" b="1" lang="ar-EG">
                <a:solidFill>
                  <a:srgbClr val="FFFFFF"/>
                </a:solidFill>
                <a:latin typeface="Arial"/>
                <a:cs typeface="Arial"/>
              </a:rPr>
              <a:t>لماذا هذا النظام؟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241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0" lang="ar-EG">
                <a:solidFill>
                  <a:srgbClr val="FBE599"/>
                </a:solidFill>
                <a:latin typeface="Arial"/>
                <a:cs typeface="Arial"/>
              </a:rPr>
              <a:t>المشكلة التي نحلها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09728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1200" b="0" lang="ar-EG">
                <a:solidFill>
                  <a:srgbClr val="5B667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465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نظام توجيه العلوم والجداول المدرسية — إدارة قوص التعليمية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67744" y="1783080"/>
            <a:ext cx="82296" cy="1691639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400" b="1" lang="ar-EG">
                <a:solidFill>
                  <a:srgbClr val="0F214D"/>
                </a:solidFill>
                <a:latin typeface="Arial"/>
                <a:cs typeface="Arial"/>
              </a:rPr>
              <a:t>بيانات متفرقة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12064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الكادر والفصول والحصص في ملفات متعددة يصعب مطابقتها بين المدارس.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64592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52744" y="1783080"/>
            <a:ext cx="82296" cy="1691639"/>
          </a:xfrm>
          <a:prstGeom prst="rect">
            <a:avLst/>
          </a:prstGeom>
          <a:solidFill>
            <a:srgbClr val="1F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400" b="1" lang="ar-EG">
                <a:solidFill>
                  <a:srgbClr val="0F214D"/>
                </a:solidFill>
                <a:latin typeface="Arial"/>
                <a:cs typeface="Arial"/>
              </a:rPr>
              <a:t>حسابات يدوية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194560"/>
            <a:ext cx="512064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العجز والأنصبة والإشراف والانتداب والإجازات تُحسب باليد، وتتغير نتيجتها مع كل تعديل.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9476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667744" y="3931920"/>
            <a:ext cx="82296" cy="1691639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8862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400" b="1" lang="ar-EG">
                <a:solidFill>
                  <a:srgbClr val="0F214D"/>
                </a:solidFill>
                <a:latin typeface="Arial"/>
                <a:cs typeface="Arial"/>
              </a:rPr>
              <a:t>تأخر القرار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43400"/>
            <a:ext cx="512064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لا صورة موحّدة تُظهر أين العجز وأين الفائض وأي مدارس لم تُعتمد بياناتها بعد.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9476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52744" y="3931920"/>
            <a:ext cx="82296" cy="1691639"/>
          </a:xfrm>
          <a:prstGeom prst="rect">
            <a:avLst/>
          </a:prstGeom>
          <a:solidFill>
            <a:srgbClr val="1F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862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400" b="1" lang="ar-EG">
                <a:solidFill>
                  <a:srgbClr val="0F214D"/>
                </a:solidFill>
                <a:latin typeface="Arial"/>
                <a:cs typeface="Arial"/>
              </a:rPr>
              <a:t>تقارير مكررة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43400"/>
            <a:ext cx="512064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إعادة إعداد تقارير الاجتماعات والمتابعة في كل مرة بصيغ مختلفة.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الأرقام والأسماء داخل الشرائح التالية بيانات تجريبية للعرض فقط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000" b="1" lang="ar-EG">
                <a:solidFill>
                  <a:srgbClr val="FFFFFF"/>
                </a:solidFill>
                <a:latin typeface="Arial"/>
                <a:cs typeface="Arial"/>
              </a:rPr>
              <a:t>الفكرة: نظام واحد وصلاحيات منضبطة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241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0" lang="ar-EG">
                <a:solidFill>
                  <a:srgbClr val="FBE599"/>
                </a:solidFill>
                <a:latin typeface="Arial"/>
                <a:cs typeface="Arial"/>
              </a:rPr>
              <a:t>كل مسؤول يرى نطاقه ومسؤولياته فقط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09728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1200" b="0" lang="ar-EG">
                <a:solidFill>
                  <a:srgbClr val="5B667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465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نظام توجيه العلوم والجداول المدرسية — إدارة قوص التعليمية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85655" y="1828800"/>
            <a:ext cx="2057400" cy="2103120"/>
          </a:xfrm>
          <a:prstGeom prst="roundRect">
            <a:avLst>
              <a:gd name="adj" fmla="val 8000"/>
            </a:avLst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77095" y="2011680"/>
            <a:ext cx="1874519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900" b="1" lang="ar-EG">
                <a:solidFill>
                  <a:srgbClr val="FFFFFF"/>
                </a:solidFill>
                <a:latin typeface="Arial"/>
                <a:cs typeface="Arial"/>
              </a:rPr>
              <a:t>المعلم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2926080"/>
            <a:ext cx="187451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FBE599"/>
                </a:solidFill>
                <a:latin typeface="Arial"/>
                <a:cs typeface="Arial"/>
              </a:rPr>
              <a:t>بياناته وحصصه وفصوله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1607" y="265176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2000" b="0" lang="ar-EG">
                <a:solidFill>
                  <a:srgbClr val="CE9E48"/>
                </a:solidFill>
                <a:latin typeface="Arial"/>
                <a:cs typeface="Arial"/>
              </a:rPr>
              <a:t>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5375" y="1828800"/>
            <a:ext cx="2057400" cy="2103120"/>
          </a:xfrm>
          <a:prstGeom prst="roundRect">
            <a:avLst>
              <a:gd name="adj" fmla="val 8000"/>
            </a:avLst>
          </a:prstGeom>
          <a:solidFill>
            <a:srgbClr val="1F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6815" y="2011680"/>
            <a:ext cx="1874519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900" b="1" lang="ar-EG">
                <a:solidFill>
                  <a:srgbClr val="FFFFFF"/>
                </a:solidFill>
                <a:latin typeface="Arial"/>
                <a:cs typeface="Arial"/>
              </a:rPr>
              <a:t>مشرف المادة / مدير المدرسة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6815" y="2926080"/>
            <a:ext cx="187451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FBE599"/>
                </a:solidFill>
                <a:latin typeface="Arial"/>
                <a:cs typeface="Arial"/>
              </a:rPr>
              <a:t>بيانات المدرسة وإرسالها للاعتماد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1327" y="265176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2000" b="0" lang="ar-EG">
                <a:solidFill>
                  <a:srgbClr val="CE9E48"/>
                </a:solidFill>
                <a:latin typeface="Arial"/>
                <a:cs typeface="Arial"/>
              </a:rPr>
              <a:t>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5095" y="1828800"/>
            <a:ext cx="2057400" cy="2103120"/>
          </a:xfrm>
          <a:prstGeom prst="roundRect">
            <a:avLst>
              <a:gd name="adj" fmla="val 8000"/>
            </a:avLst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6535" y="2011680"/>
            <a:ext cx="1874519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900" b="1" lang="ar-EG">
                <a:solidFill>
                  <a:srgbClr val="FFFFFF"/>
                </a:solidFill>
                <a:latin typeface="Arial"/>
                <a:cs typeface="Arial"/>
              </a:rPr>
              <a:t>الموجّه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6535" y="2926080"/>
            <a:ext cx="187451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FBE599"/>
                </a:solidFill>
                <a:latin typeface="Arial"/>
                <a:cs typeface="Arial"/>
              </a:rPr>
              <a:t>مدارسه: المتابعة والاعتماد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1047" y="265176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2000" b="0" lang="ar-EG">
                <a:solidFill>
                  <a:srgbClr val="CE9E48"/>
                </a:solidFill>
                <a:latin typeface="Arial"/>
                <a:cs typeface="Arial"/>
              </a:rPr>
              <a:t>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64815" y="1828800"/>
            <a:ext cx="2057400" cy="2103120"/>
          </a:xfrm>
          <a:prstGeom prst="roundRect">
            <a:avLst>
              <a:gd name="adj" fmla="val 8000"/>
            </a:avLst>
          </a:prstGeom>
          <a:solidFill>
            <a:srgbClr val="1F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56255" y="2011680"/>
            <a:ext cx="1874519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900" b="1" lang="ar-EG">
                <a:solidFill>
                  <a:srgbClr val="FFFFFF"/>
                </a:solidFill>
                <a:latin typeface="Arial"/>
                <a:cs typeface="Arial"/>
              </a:rPr>
              <a:t>منسق المرحلة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6255" y="2926080"/>
            <a:ext cx="187451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FBE599"/>
                </a:solidFill>
                <a:latin typeface="Arial"/>
                <a:cs typeface="Arial"/>
              </a:rPr>
              <a:t>قرارات المرحلة: العجز والانتداب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0767" y="265176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2000" b="0" lang="ar-EG">
                <a:solidFill>
                  <a:srgbClr val="CE9E48"/>
                </a:solidFill>
                <a:latin typeface="Arial"/>
                <a:cs typeface="Arial"/>
              </a:rPr>
              <a:t>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" y="1828800"/>
            <a:ext cx="2057400" cy="2103120"/>
          </a:xfrm>
          <a:prstGeom prst="roundRect">
            <a:avLst>
              <a:gd name="adj" fmla="val 8000"/>
            </a:avLst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975" y="2011680"/>
            <a:ext cx="1874519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900" b="1" lang="ar-EG">
                <a:solidFill>
                  <a:srgbClr val="FFFFFF"/>
                </a:solidFill>
                <a:latin typeface="Arial"/>
                <a:cs typeface="Arial"/>
              </a:rPr>
              <a:t>الموجّه الأول والإدارة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" y="2926080"/>
            <a:ext cx="187451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FBE599"/>
                </a:solidFill>
                <a:latin typeface="Arial"/>
                <a:cs typeface="Arial"/>
              </a:rPr>
              <a:t>الصورة العامة والتقارير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00" b="1" lang="ar-EG">
                <a:solidFill>
                  <a:srgbClr val="0F214D"/>
                </a:solidFill>
                <a:latin typeface="Arial"/>
                <a:cs typeface="Arial"/>
              </a:rPr>
              <a:t>ما يضمنه النظام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0" lang="ar-EG">
                <a:solidFill>
                  <a:srgbClr val="1B253B"/>
                </a:solidFill>
                <a:latin typeface="Arial"/>
                <a:cs typeface="Arial"/>
              </a:rPr>
              <a:t>•  مصدر واحد للبيانات: قاعدة بيانات مركزية تُحدَّث لحظيًا لكل الأطراف.</a:t>
            </a:r>
          </a:p>
          <a:p>
            <a:pPr algn="r" rtl="1">
              <a:lnSpc>
                <a:spcPct val="110000"/>
              </a:lnSpc>
            </a:pPr>
            <a:r>
              <a:rPr sz="1800" b="0" lang="ar-EG">
                <a:solidFill>
                  <a:srgbClr val="1B253B"/>
                </a:solidFill>
                <a:latin typeface="Arial"/>
                <a:cs typeface="Arial"/>
              </a:rPr>
              <a:t>•  قواعد الحساب (العجز، الأنصبة، الإشراف، الانتداب) تُنفَّذ آليًا بنفس الصيغة لكل المدارس.</a:t>
            </a:r>
          </a:p>
          <a:p>
            <a:pPr algn="r" rtl="1">
              <a:lnSpc>
                <a:spcPct val="110000"/>
              </a:lnSpc>
            </a:pPr>
            <a:r>
              <a:rPr sz="1800" b="0" lang="ar-EG">
                <a:solidFill>
                  <a:srgbClr val="1B253B"/>
                </a:solidFill>
                <a:latin typeface="Arial"/>
                <a:cs typeface="Arial"/>
              </a:rPr>
              <a:t>•  لكل مستخدم دور نشط واحد وصلاحياته مضبوطة في قاعدة البيانات نفسها لا في الواجهة فقط.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000" b="1" lang="ar-EG">
                <a:solidFill>
                  <a:srgbClr val="FFFFFF"/>
                </a:solidFill>
                <a:latin typeface="Arial"/>
                <a:cs typeface="Arial"/>
              </a:rPr>
              <a:t>الدخول والأدوار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241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0" lang="ar-EG">
                <a:solidFill>
                  <a:srgbClr val="FBE599"/>
                </a:solidFill>
                <a:latin typeface="Arial"/>
                <a:cs typeface="Arial"/>
              </a:rPr>
              <a:t>دخول بالرقم القومي، وتُطبَّق الصلاحيات حسب الدور المختار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09728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1200" b="0" lang="ar-EG">
                <a:solidFill>
                  <a:srgbClr val="5B667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465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نظام توجيه العلوم والجداول المدرسية — إدارة قوص التعليمية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1426464"/>
            <a:ext cx="3843212" cy="4599432"/>
          </a:xfrm>
          <a:prstGeom prst="rect">
            <a:avLst/>
          </a:prstGeom>
          <a:solidFill>
            <a:srgbClr val="C9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770060" cy="4526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937760" y="1417320"/>
            <a:ext cx="6675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30584" y="1508760"/>
            <a:ext cx="82296" cy="640080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453896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700" b="1" lang="ar-EG">
                <a:solidFill>
                  <a:srgbClr val="0F214D"/>
                </a:solidFill>
                <a:latin typeface="Arial"/>
                <a:cs typeface="Arial"/>
              </a:rPr>
              <a:t>الموجّه الأول والإدارة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819656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300" b="0" lang="ar-EG">
                <a:solidFill>
                  <a:srgbClr val="5B667A"/>
                </a:solidFill>
                <a:latin typeface="Arial"/>
                <a:cs typeface="Arial"/>
              </a:rPr>
              <a:t>لوحة الإدارة، كل المدارس والتقارير العامة والإعلانات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2331720"/>
            <a:ext cx="6675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0584" y="2423160"/>
            <a:ext cx="82296" cy="640080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368296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700" b="1" lang="ar-EG">
                <a:solidFill>
                  <a:srgbClr val="0F214D"/>
                </a:solidFill>
                <a:latin typeface="Arial"/>
                <a:cs typeface="Arial"/>
              </a:rPr>
              <a:t>منسق المرحلة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34056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300" b="0" lang="ar-EG">
                <a:solidFill>
                  <a:srgbClr val="5B667A"/>
                </a:solidFill>
                <a:latin typeface="Arial"/>
                <a:cs typeface="Arial"/>
              </a:rPr>
              <a:t>قرارات مرحلته، توزيع الموجهين، الانتداب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3246120"/>
            <a:ext cx="6675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30584" y="3337560"/>
            <a:ext cx="82296" cy="640080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282696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700" b="1" lang="ar-EG">
                <a:solidFill>
                  <a:srgbClr val="0F214D"/>
                </a:solidFill>
                <a:latin typeface="Arial"/>
                <a:cs typeface="Arial"/>
              </a:rPr>
              <a:t>الموجّه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648456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300" b="0" lang="ar-EG">
                <a:solidFill>
                  <a:srgbClr val="5B667A"/>
                </a:solidFill>
                <a:latin typeface="Arial"/>
                <a:cs typeface="Arial"/>
              </a:rPr>
              <a:t>مدارسه ومعلموها واعتماد بياناتها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4160520"/>
            <a:ext cx="6675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30584" y="4251959"/>
            <a:ext cx="82296" cy="640080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197096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700" b="1" lang="ar-EG">
                <a:solidFill>
                  <a:srgbClr val="0F214D"/>
                </a:solidFill>
                <a:latin typeface="Arial"/>
                <a:cs typeface="Arial"/>
              </a:rPr>
              <a:t>مدير المدرسة ومشرف المادة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562856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300" b="0" lang="ar-EG">
                <a:solidFill>
                  <a:srgbClr val="5B667A"/>
                </a:solidFill>
                <a:latin typeface="Arial"/>
                <a:cs typeface="Arial"/>
              </a:rPr>
              <a:t>بيانات المدرسة، الفصول، الإسناد، الإرسال للاعتماد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5074920"/>
            <a:ext cx="6675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30584" y="5166359"/>
            <a:ext cx="82296" cy="640080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5111496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700" b="1" lang="ar-EG">
                <a:solidFill>
                  <a:srgbClr val="0F214D"/>
                </a:solidFill>
                <a:latin typeface="Arial"/>
                <a:cs typeface="Arial"/>
              </a:rPr>
              <a:t>المعلم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477256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300" b="0" lang="ar-EG">
                <a:solidFill>
                  <a:srgbClr val="5B667A"/>
                </a:solidFill>
                <a:latin typeface="Arial"/>
                <a:cs typeface="Arial"/>
              </a:rPr>
              <a:t>بياناته وحصصه وفصوله فقط، ولا يرى زملاءه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الحساب الواحد قد يحمل أكثر من دور (مثل منسق المرحلة والموجّه) مع زر «تبديل الدور».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000" b="1" lang="ar-EG">
                <a:solidFill>
                  <a:srgbClr val="FFFFFF"/>
                </a:solidFill>
                <a:latin typeface="Arial"/>
                <a:cs typeface="Arial"/>
              </a:rPr>
              <a:t>لوحة الإدارة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241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0" lang="ar-EG">
                <a:solidFill>
                  <a:srgbClr val="FBE599"/>
                </a:solidFill>
                <a:latin typeface="Arial"/>
                <a:cs typeface="Arial"/>
              </a:rPr>
              <a:t>ملخص الحصص والعجز في لمحة واحدة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09728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1200" b="0" lang="ar-EG">
                <a:solidFill>
                  <a:srgbClr val="5B667A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465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نظام توجيه العلوم والجداول المدرسية — إدارة قوص التعليمية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5584" y="1517904"/>
            <a:ext cx="5833872" cy="2743004"/>
          </a:xfrm>
          <a:prstGeom prst="rect">
            <a:avLst/>
          </a:prstGeom>
          <a:solidFill>
            <a:srgbClr val="C9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s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554480"/>
            <a:ext cx="5760720" cy="26698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00" b="1" lang="ar-EG">
                <a:solidFill>
                  <a:srgbClr val="0F214D"/>
                </a:solidFill>
                <a:latin typeface="Arial"/>
                <a:cs typeface="Arial"/>
              </a:rPr>
              <a:t>ماذا تعرض؟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502920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0" lang="ar-EG">
                <a:solidFill>
                  <a:srgbClr val="1B253B"/>
                </a:solidFill>
                <a:latin typeface="Arial"/>
                <a:cs typeface="Arial"/>
              </a:rPr>
              <a:t>•  الحصص المطلوبة فعليًا للمرحلة.</a:t>
            </a:r>
          </a:p>
          <a:p>
            <a:pPr algn="r" rtl="1">
              <a:lnSpc>
                <a:spcPct val="125000"/>
              </a:lnSpc>
            </a:pPr>
            <a:r>
              <a:rPr sz="1800" b="0" lang="ar-EG">
                <a:solidFill>
                  <a:srgbClr val="1B253B"/>
                </a:solidFill>
                <a:latin typeface="Arial"/>
                <a:cs typeface="Arial"/>
              </a:rPr>
              <a:t>•  العجز والزيادة بالحصص الأسبوعية.</a:t>
            </a:r>
          </a:p>
          <a:p>
            <a:pPr algn="r" rtl="1">
              <a:lnSpc>
                <a:spcPct val="125000"/>
              </a:lnSpc>
            </a:pPr>
            <a:r>
              <a:rPr sz="1800" b="0" lang="ar-EG">
                <a:solidFill>
                  <a:srgbClr val="1B253B"/>
                </a:solidFill>
                <a:latin typeface="Arial"/>
                <a:cs typeface="Arial"/>
              </a:rPr>
              <a:t>•  الانتدابات الجزئية الجارية.</a:t>
            </a:r>
          </a:p>
          <a:p>
            <a:pPr algn="r" rtl="1">
              <a:lnSpc>
                <a:spcPct val="125000"/>
              </a:lnSpc>
            </a:pPr>
            <a:r>
              <a:rPr sz="1800" b="0" lang="ar-EG">
                <a:solidFill>
                  <a:srgbClr val="1B253B"/>
                </a:solidFill>
                <a:latin typeface="Arial"/>
                <a:cs typeface="Arial"/>
              </a:rPr>
              <a:t>•  بطاقات تنبيه: بيانات تحتاج استكمالًا، وتعديلات بانتظار الاعتماد.</a:t>
            </a:r>
          </a:p>
          <a:p>
            <a:pPr algn="r" rtl="1">
              <a:lnSpc>
                <a:spcPct val="125000"/>
              </a:lnSpc>
            </a:pPr>
            <a:r>
              <a:rPr sz="1800" b="0" lang="ar-EG">
                <a:solidFill>
                  <a:srgbClr val="1B253B"/>
                </a:solidFill>
                <a:latin typeface="Arial"/>
                <a:cs typeface="Arial"/>
              </a:rPr>
              <a:t>•  الجرس والتنبيهات الذكية، وزر «؟» لدليل الشاشات.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بيانات تجريبية للعرض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000" b="1" lang="ar-EG">
                <a:solidFill>
                  <a:srgbClr val="FFFFFF"/>
                </a:solidFill>
                <a:latin typeface="Arial"/>
                <a:cs typeface="Arial"/>
              </a:rPr>
              <a:t>لوحة منسق المرحلة: دعم القرار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241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0" lang="ar-EG">
                <a:solidFill>
                  <a:srgbClr val="FBE599"/>
                </a:solidFill>
                <a:latin typeface="Arial"/>
                <a:cs typeface="Arial"/>
              </a:rPr>
              <a:t>من «أين العجز؟» إلى «ماذا أقرر الآن؟»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09728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1200" b="0" lang="ar-EG">
                <a:solidFill>
                  <a:srgbClr val="5B667A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465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نظام توجيه العلوم والجداول المدرسية — إدارة قوص التعليمية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52744" y="1380744"/>
            <a:ext cx="5254233" cy="4690872"/>
          </a:xfrm>
          <a:prstGeom prst="rect">
            <a:avLst/>
          </a:prstGeom>
          <a:solidFill>
            <a:srgbClr val="C9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417320"/>
            <a:ext cx="5181081" cy="461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00" b="1" lang="ar-EG">
                <a:solidFill>
                  <a:srgbClr val="0F214D"/>
                </a:solidFill>
                <a:latin typeface="Arial"/>
                <a:cs typeface="Arial"/>
              </a:rPr>
              <a:t>ثلاث خطوات واضحة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521208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00" b="0" lang="ar-EG">
                <a:solidFill>
                  <a:srgbClr val="1B253B"/>
                </a:solidFill>
                <a:latin typeface="Arial"/>
                <a:cs typeface="Arial"/>
              </a:rPr>
              <a:t>①  يحتاج قرارًا الآن: ما لا تغطيه التغطية الداخلية والانتداب المقترح والأجر المسند.</a:t>
            </a:r>
          </a:p>
          <a:p>
            <a:pPr algn="r" rtl="1">
              <a:lnSpc>
                <a:spcPct val="120000"/>
              </a:lnSpc>
            </a:pPr>
            <a:r>
              <a:rPr sz="1700" b="0" lang="ar-EG">
                <a:solidFill>
                  <a:srgbClr val="1B253B"/>
                </a:solidFill>
                <a:latin typeface="Arial"/>
                <a:cs typeface="Arial"/>
              </a:rPr>
              <a:t>②  شريط تغطية الحصص المطلوبة: يُسد داخليًا، مقترح انتداب من الفائض، أجر مسند.</a:t>
            </a:r>
          </a:p>
          <a:p>
            <a:pPr algn="r" rtl="1">
              <a:lnSpc>
                <a:spcPct val="120000"/>
              </a:lnSpc>
            </a:pPr>
            <a:r>
              <a:rPr sz="1700" b="0" lang="ar-EG">
                <a:solidFill>
                  <a:srgbClr val="1B253B"/>
                </a:solidFill>
                <a:latin typeface="Arial"/>
                <a:cs typeface="Arial"/>
              </a:rPr>
              <a:t>③  «ماذا أفعل الآن؟»: مدارس لم تُعتمد، أعلى المدارس عجزًا، مقترح الانتداب.</a:t>
            </a:r>
          </a:p>
          <a:p>
            <a:pPr algn="r" rtl="1">
              <a:lnSpc>
                <a:spcPct val="120000"/>
              </a:lnSpc>
            </a:pPr>
            <a:r>
              <a:rPr sz="1700" b="0" lang="ar-EG">
                <a:solidFill>
                  <a:srgbClr val="1B253B"/>
                </a:solidFill>
                <a:latin typeface="Arial"/>
                <a:cs typeface="Arial"/>
              </a:rPr>
              <a:t>•  مقترح الانتداب: الأحدث تعيينًا يُنتدب، ولا يُقترح الأقدم ولا مشرف المادة.</a:t>
            </a:r>
          </a:p>
          <a:p>
            <a:pPr algn="r" rtl="1">
              <a:lnSpc>
                <a:spcPct val="120000"/>
              </a:lnSpc>
            </a:pPr>
            <a:r>
              <a:rPr sz="1700" b="0" lang="ar-EG">
                <a:solidFill>
                  <a:srgbClr val="1B253B"/>
                </a:solidFill>
                <a:latin typeface="Arial"/>
                <a:cs typeface="Arial"/>
              </a:rPr>
              <a:t>•  «تقرير الاجتماع» جاهز للطباعة بضغطة.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بيانات تجريبية للعرض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000" b="1" lang="ar-EG">
                <a:solidFill>
                  <a:srgbClr val="FFFFFF"/>
                </a:solidFill>
                <a:latin typeface="Arial"/>
                <a:cs typeface="Arial"/>
              </a:rPr>
              <a:t>المدارس والمعلمون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241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0" lang="ar-EG">
                <a:solidFill>
                  <a:srgbClr val="FBE599"/>
                </a:solidFill>
                <a:latin typeface="Arial"/>
                <a:cs typeface="Arial"/>
              </a:rPr>
              <a:t>شاشات تبدأ فارغة لسرعة التحميل وتُعرض باختيار مدرسة أو بالبحث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09728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1200" b="0" lang="ar-EG">
                <a:solidFill>
                  <a:srgbClr val="5B667A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465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نظام توجيه العلوم والجداول المدرسية — إدارة قوص التعليمية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55664" y="1380744"/>
            <a:ext cx="4327119" cy="3182112"/>
          </a:xfrm>
          <a:prstGeom prst="rect">
            <a:avLst/>
          </a:prstGeom>
          <a:solidFill>
            <a:srgbClr val="C9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h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17320"/>
            <a:ext cx="4253967" cy="3108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86384" y="1380744"/>
            <a:ext cx="4917948" cy="3182112"/>
          </a:xfrm>
          <a:prstGeom prst="rect">
            <a:avLst/>
          </a:prstGeom>
          <a:solidFill>
            <a:srgbClr val="C9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each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417320"/>
            <a:ext cx="4844796" cy="3108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5B667A"/>
                </a:solidFill>
                <a:latin typeface="Arial"/>
                <a:cs typeface="Arial"/>
              </a:rPr>
              <a:t>المعلمون: الحالة والنوع والإجمالي لكل معلم + «إضافة انتداب».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754880"/>
            <a:ext cx="5486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5B667A"/>
                </a:solidFill>
                <a:latin typeface="Arial"/>
                <a:cs typeface="Arial"/>
              </a:rPr>
              <a:t>المدرسة: الفصول المسجلة والحصص المسندة، وزرّا «تقرير المدرسة الشامل» و«تقرير إسناد الفصول».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5B667A"/>
                </a:solidFill>
                <a:latin typeface="Arial"/>
                <a:cs typeface="Arial"/>
              </a:rPr>
              <a:t>تصدير Excel وتقرير جاهز لأي تصفية (المرحلة، المدرسة، الإشراف، المتبقي).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بيانات تجريبية للعرض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000" b="1" lang="ar-EG">
                <a:solidFill>
                  <a:srgbClr val="FFFFFF"/>
                </a:solidFill>
                <a:latin typeface="Arial"/>
                <a:cs typeface="Arial"/>
              </a:rPr>
              <a:t>القواعد المعتمدة تُحسب آليًا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241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0" lang="ar-EG">
                <a:solidFill>
                  <a:srgbClr val="FBE599"/>
                </a:solidFill>
                <a:latin typeface="Arial"/>
                <a:cs typeface="Arial"/>
              </a:rPr>
              <a:t>نفس الصيغة لكل المدارس — بلا حسابات يدوية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09728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1200" b="0" lang="ar-EG">
                <a:solidFill>
                  <a:srgbClr val="5B667A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465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نظام توجيه العلوم والجداول المدرسية — إدارة قوص التعليمية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67744" y="1600200"/>
            <a:ext cx="82296" cy="1143000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100" b="1" lang="ar-EG">
                <a:solidFill>
                  <a:srgbClr val="0F214D"/>
                </a:solidFill>
                <a:latin typeface="Arial"/>
                <a:cs typeface="Arial"/>
              </a:rPr>
              <a:t>العجز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1206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00" b="0" lang="ar-EG">
                <a:solidFill>
                  <a:srgbClr val="1B253B"/>
                </a:solidFill>
                <a:latin typeface="Arial"/>
                <a:cs typeface="Arial"/>
              </a:rPr>
              <a:t>الحصص الكلية = عدد الفصول × الحصص المقررة. العجز = الكلية − الفعلية، والفعلية للمعلمين الأساسيين.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4630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52744" y="1600200"/>
            <a:ext cx="82296" cy="1143000"/>
          </a:xfrm>
          <a:prstGeom prst="rect">
            <a:avLst/>
          </a:prstGeom>
          <a:solidFill>
            <a:srgbClr val="1F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55448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100" b="1" lang="ar-EG">
                <a:solidFill>
                  <a:srgbClr val="0F214D"/>
                </a:solidFill>
                <a:latin typeface="Arial"/>
                <a:cs typeface="Arial"/>
              </a:rPr>
              <a:t>الأنصبة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011680"/>
            <a:ext cx="51206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00" b="0" lang="ar-EG">
                <a:solidFill>
                  <a:srgbClr val="1B253B"/>
                </a:solidFill>
                <a:latin typeface="Arial"/>
                <a:cs typeface="Arial"/>
              </a:rPr>
              <a:t>النصاب حسب الدرجة الوظيفية والمرحلة، والمتبقي لكل معلم يتحدث مع كل إسناد.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1752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667744" y="3154679"/>
            <a:ext cx="82296" cy="1143000"/>
          </a:xfrm>
          <a:prstGeom prst="rect">
            <a:avLst/>
          </a:prstGeom>
          <a:solidFill>
            <a:srgbClr val="1F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100" b="1" lang="ar-EG">
                <a:solidFill>
                  <a:srgbClr val="0F214D"/>
                </a:solidFill>
                <a:latin typeface="Arial"/>
                <a:cs typeface="Arial"/>
              </a:rPr>
              <a:t>الإشراف والريادة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66160"/>
            <a:ext cx="51206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00" b="0" lang="ar-EG">
                <a:solidFill>
                  <a:srgbClr val="1B253B"/>
                </a:solidFill>
                <a:latin typeface="Arial"/>
                <a:cs typeface="Arial"/>
              </a:rPr>
              <a:t>حصتا الإشراف تُحتسبان في النصاب ولا تُخصم من حصص المدرسة. الريادة تلقائية لمن ينقصه حصة واحدة.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01752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52744" y="3154679"/>
            <a:ext cx="82296" cy="1143000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1089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100" b="1" lang="ar-EG">
                <a:solidFill>
                  <a:srgbClr val="0F214D"/>
                </a:solidFill>
                <a:latin typeface="Arial"/>
                <a:cs typeface="Arial"/>
              </a:rPr>
              <a:t>الانتداب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566160"/>
            <a:ext cx="51206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00" b="0" lang="ar-EG">
                <a:solidFill>
                  <a:srgbClr val="1B253B"/>
                </a:solidFill>
                <a:latin typeface="Arial"/>
                <a:cs typeface="Arial"/>
              </a:rPr>
              <a:t>كلي أو جزئي، مع نصاب المرحلة المناسبة. الجزئي يظهر في المدرستين، وعجزه في مدرسته الأصلية فقط.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57200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667744" y="4709160"/>
            <a:ext cx="82296" cy="1143000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6634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100" b="1" lang="ar-EG">
                <a:solidFill>
                  <a:srgbClr val="0F214D"/>
                </a:solidFill>
                <a:latin typeface="Arial"/>
                <a:cs typeface="Arial"/>
              </a:rPr>
              <a:t>الإجازات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20640"/>
            <a:ext cx="51206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00" b="0" lang="ar-EG">
                <a:solidFill>
                  <a:srgbClr val="1B253B"/>
                </a:solidFill>
                <a:latin typeface="Arial"/>
                <a:cs typeface="Arial"/>
              </a:rPr>
              <a:t>الإجازة المجددة تُستبعد من العجز والإشراف وتظهر «إجازة» في التقارير ولا تُسند لها حصص.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57200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52744" y="4709160"/>
            <a:ext cx="82296" cy="1143000"/>
          </a:xfrm>
          <a:prstGeom prst="rect">
            <a:avLst/>
          </a:prstGeom>
          <a:solidFill>
            <a:srgbClr val="1F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6634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100" b="1" lang="ar-EG">
                <a:solidFill>
                  <a:srgbClr val="0F214D"/>
                </a:solidFill>
                <a:latin typeface="Arial"/>
                <a:cs typeface="Arial"/>
              </a:rPr>
              <a:t>الجداول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120640"/>
            <a:ext cx="51206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00" b="0" lang="ar-EG">
                <a:solidFill>
                  <a:srgbClr val="1B253B"/>
                </a:solidFill>
                <a:latin typeface="Arial"/>
                <a:cs typeface="Arial"/>
              </a:rPr>
              <a:t>المعلم لا يكون في فصلين أو مدرستين في الحصة نفسها.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000" b="1" lang="ar-EG">
                <a:solidFill>
                  <a:srgbClr val="FFFFFF"/>
                </a:solidFill>
                <a:latin typeface="Arial"/>
                <a:cs typeface="Arial"/>
              </a:rPr>
              <a:t>التقارير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241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0" lang="ar-EG">
                <a:solidFill>
                  <a:srgbClr val="FBE599"/>
                </a:solidFill>
                <a:latin typeface="Arial"/>
                <a:cs typeface="Arial"/>
              </a:rPr>
              <a:t>تقارير A4 جاهزة للطباعة وPDF والإرسال بواتساب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09728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1200" b="0" lang="ar-EG">
                <a:solidFill>
                  <a:srgbClr val="5B667A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465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نظام توجيه العلوم والجداول المدرسية — إدارة قوص التعليمية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1380744"/>
            <a:ext cx="4327119" cy="3182112"/>
          </a:xfrm>
          <a:prstGeom prst="rect">
            <a:avLst/>
          </a:prstGeom>
          <a:solidFill>
            <a:srgbClr val="C9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17320"/>
            <a:ext cx="4253967" cy="3108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64224" y="1380744"/>
            <a:ext cx="5252224" cy="3182112"/>
          </a:xfrm>
          <a:prstGeom prst="rect">
            <a:avLst/>
          </a:prstGeom>
          <a:solidFill>
            <a:srgbClr val="C9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17320"/>
            <a:ext cx="5179072" cy="3108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466344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5B667A"/>
                </a:solidFill>
                <a:latin typeface="Arial"/>
                <a:cs typeface="Arial"/>
              </a:rPr>
              <a:t>مركز التقارير: بطاقات حسب الغرض مع الملخص أعلاها.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663440"/>
            <a:ext cx="5440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5B667A"/>
                </a:solidFill>
                <a:latin typeface="Arial"/>
                <a:cs typeface="Arial"/>
              </a:rPr>
              <a:t>معاينة «الخطة الملخصة»: طباعة، حفظ PDF، إرسال واتس.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00" b="0" lang="ar-EG">
                <a:solidFill>
                  <a:srgbClr val="1B253B"/>
                </a:solidFill>
                <a:latin typeface="Arial"/>
                <a:cs typeface="Arial"/>
              </a:rPr>
              <a:t>•  أنصبة المعلمين، الكادر، العجز والزيادة، الفصول.</a:t>
            </a:r>
          </a:p>
          <a:p>
            <a:pPr algn="r" rtl="1">
              <a:lnSpc>
                <a:spcPct val="110000"/>
              </a:lnSpc>
            </a:pPr>
            <a:r>
              <a:rPr sz="1600" b="0" lang="ar-EG">
                <a:solidFill>
                  <a:srgbClr val="1B253B"/>
                </a:solidFill>
                <a:latin typeface="Arial"/>
                <a:cs typeface="Arial"/>
              </a:rPr>
              <a:t>•  الإجازات، الانتدابات، التقرير المالي، جدول المعلم.</a:t>
            </a:r>
          </a:p>
          <a:p>
            <a:pPr algn="r" rtl="1">
              <a:lnSpc>
                <a:spcPct val="110000"/>
              </a:lnSpc>
            </a:pPr>
            <a:r>
              <a:rPr sz="1600" b="0" lang="ar-EG">
                <a:solidFill>
                  <a:srgbClr val="1B253B"/>
                </a:solidFill>
                <a:latin typeface="Arial"/>
                <a:cs typeface="Arial"/>
              </a:rPr>
              <a:t>•  تصدير Excel حقيقي للنتائج المفلترة.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بيانات تجريبية للعرض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000" b="1" lang="ar-EG">
                <a:solidFill>
                  <a:srgbClr val="FFFFFF"/>
                </a:solidFill>
                <a:latin typeface="Arial"/>
                <a:cs typeface="Arial"/>
              </a:rPr>
              <a:t>دورة العمل داخل النظام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241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0" lang="ar-EG">
                <a:solidFill>
                  <a:srgbClr val="FBE599"/>
                </a:solidFill>
                <a:latin typeface="Arial"/>
                <a:cs typeface="Arial"/>
              </a:rPr>
              <a:t>من إدخال البيانات إلى الاعتماد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09728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1200" b="0" lang="ar-EG">
                <a:solidFill>
                  <a:srgbClr val="5B667A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465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نظام توجيه العلوم والجداول المدرسية — إدارة قوص التعليمية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3983" y="1737360"/>
            <a:ext cx="1719072" cy="731520"/>
          </a:xfrm>
          <a:prstGeom prst="roundRect">
            <a:avLst>
              <a:gd name="adj" fmla="val 15000"/>
            </a:avLst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3983" y="1737360"/>
            <a:ext cx="1719072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600" b="1" lang="ar-EG">
                <a:solidFill>
                  <a:srgbClr val="FFFFFF"/>
                </a:solidFill>
                <a:latin typeface="Arial"/>
                <a:cs typeface="Arial"/>
              </a:rPr>
              <a:t>1. إدخال الفصول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23983" y="2606040"/>
            <a:ext cx="171907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7135" y="2697480"/>
            <a:ext cx="1572768" cy="1737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1B253B"/>
                </a:solidFill>
                <a:latin typeface="Arial"/>
                <a:cs typeface="Arial"/>
              </a:rPr>
              <a:t>المدارس وفصولها من المنسق أو مشرف المادة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6895" y="1737360"/>
            <a:ext cx="1719072" cy="731520"/>
          </a:xfrm>
          <a:prstGeom prst="roundRect">
            <a:avLst>
              <a:gd name="adj" fmla="val 15000"/>
            </a:avLst>
          </a:prstGeom>
          <a:solidFill>
            <a:srgbClr val="1F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6895" y="1737360"/>
            <a:ext cx="1719072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600" b="1" lang="ar-EG">
                <a:solidFill>
                  <a:srgbClr val="FFFFFF"/>
                </a:solidFill>
                <a:latin typeface="Arial"/>
                <a:cs typeface="Arial"/>
              </a:rPr>
              <a:t>2. بيانات المعلمين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6895" y="2606040"/>
            <a:ext cx="171907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0047" y="2697480"/>
            <a:ext cx="1572768" cy="1737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1B253B"/>
                </a:solidFill>
                <a:latin typeface="Arial"/>
                <a:cs typeface="Arial"/>
              </a:rPr>
              <a:t>إضافة وتعديل البيانات الوظيفية والمؤهل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9807" y="1737360"/>
            <a:ext cx="1719072" cy="731520"/>
          </a:xfrm>
          <a:prstGeom prst="roundRect">
            <a:avLst>
              <a:gd name="adj" fmla="val 15000"/>
            </a:avLst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9807" y="1737360"/>
            <a:ext cx="1719072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600" b="1" lang="ar-EG">
                <a:solidFill>
                  <a:srgbClr val="FFFFFF"/>
                </a:solidFill>
                <a:latin typeface="Arial"/>
                <a:cs typeface="Arial"/>
              </a:rPr>
              <a:t>3. إسناد الفصول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9807" y="2606040"/>
            <a:ext cx="171907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2959" y="2697480"/>
            <a:ext cx="1572768" cy="1737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1B253B"/>
                </a:solidFill>
                <a:latin typeface="Arial"/>
                <a:cs typeface="Arial"/>
              </a:rPr>
              <a:t>إسناد فصل كامل لمعلم مع تنبيه عند تجاوز النصاب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2719" y="1737360"/>
            <a:ext cx="1719072" cy="731520"/>
          </a:xfrm>
          <a:prstGeom prst="roundRect">
            <a:avLst>
              <a:gd name="adj" fmla="val 15000"/>
            </a:avLst>
          </a:prstGeom>
          <a:solidFill>
            <a:srgbClr val="1F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2719" y="1737360"/>
            <a:ext cx="1719072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600" b="1" lang="ar-EG">
                <a:solidFill>
                  <a:srgbClr val="FFFFFF"/>
                </a:solidFill>
                <a:latin typeface="Arial"/>
                <a:cs typeface="Arial"/>
              </a:rPr>
              <a:t>4. تغطية العجز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2719" y="2606040"/>
            <a:ext cx="171907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5871" y="2697480"/>
            <a:ext cx="1572768" cy="1737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1B253B"/>
                </a:solidFill>
                <a:latin typeface="Arial"/>
                <a:cs typeface="Arial"/>
              </a:rPr>
              <a:t>انتداب من الفائض ثم أجر عند الحاجة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35631" y="1737360"/>
            <a:ext cx="1719072" cy="731520"/>
          </a:xfrm>
          <a:prstGeom prst="roundRect">
            <a:avLst>
              <a:gd name="adj" fmla="val 15000"/>
            </a:avLst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5631" y="1737360"/>
            <a:ext cx="1719072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600" b="1" lang="ar-EG">
                <a:solidFill>
                  <a:srgbClr val="FFFFFF"/>
                </a:solidFill>
                <a:latin typeface="Arial"/>
                <a:cs typeface="Arial"/>
              </a:rPr>
              <a:t>5. الإرسال والاعتماد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35631" y="2606040"/>
            <a:ext cx="171907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8783" y="2697480"/>
            <a:ext cx="1572768" cy="1737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1B253B"/>
                </a:solidFill>
                <a:latin typeface="Arial"/>
                <a:cs typeface="Arial"/>
              </a:rPr>
              <a:t>مراجعة الموجّه واعتماد البيانات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543" y="1737360"/>
            <a:ext cx="1719072" cy="731520"/>
          </a:xfrm>
          <a:prstGeom prst="roundRect">
            <a:avLst>
              <a:gd name="adj" fmla="val 15000"/>
            </a:avLst>
          </a:prstGeom>
          <a:solidFill>
            <a:srgbClr val="1F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8543" y="1737360"/>
            <a:ext cx="1719072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600" b="1" lang="ar-EG">
                <a:solidFill>
                  <a:srgbClr val="FFFFFF"/>
                </a:solidFill>
                <a:latin typeface="Arial"/>
                <a:cs typeface="Arial"/>
              </a:rPr>
              <a:t>6. التقارير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8543" y="2606040"/>
            <a:ext cx="171907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1695" y="2697480"/>
            <a:ext cx="1572768" cy="1737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0" b="0" lang="ar-EG">
                <a:solidFill>
                  <a:srgbClr val="1B253B"/>
                </a:solidFill>
                <a:latin typeface="Arial"/>
                <a:cs typeface="Arial"/>
              </a:rPr>
              <a:t>تقارير الاجتماع والمتابعة والتقرير المالي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700" b="0" lang="ar-EG">
                <a:solidFill>
                  <a:srgbClr val="1B253B"/>
                </a:solidFill>
                <a:latin typeface="Arial"/>
                <a:cs typeface="Arial"/>
              </a:rPr>
              <a:t>•  كل خطوة تُسجَّل في قاعدة البيانات فتظهر نتيجتها فورًا في اللوحات والتقارير.</a:t>
            </a:r>
          </a:p>
          <a:p>
            <a:pPr algn="r" rtl="1">
              <a:lnSpc>
                <a:spcPct val="110000"/>
              </a:lnSpc>
            </a:pPr>
            <a:r>
              <a:rPr sz="1700" b="0" lang="ar-EG">
                <a:solidFill>
                  <a:srgbClr val="1B253B"/>
                </a:solidFill>
                <a:latin typeface="Arial"/>
                <a:cs typeface="Arial"/>
              </a:rPr>
              <a:t>•  لا يُنشر أي تعديل على النظام إلا بعد التجربة وموافقة صاحب المشروع.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000" b="1" lang="ar-EG">
                <a:solidFill>
                  <a:srgbClr val="FFFFFF"/>
                </a:solidFill>
                <a:latin typeface="Arial"/>
                <a:cs typeface="Arial"/>
              </a:rPr>
              <a:t>الأمان والموثوقية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09728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1200" b="0" lang="ar-EG">
                <a:solidFill>
                  <a:srgbClr val="5B667A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4465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نظام توجيه العلوم والجداول المدرسية — إدارة قوص التعليمية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67744" y="1691639"/>
            <a:ext cx="82296" cy="1737360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400" b="1" lang="ar-EG">
                <a:solidFill>
                  <a:srgbClr val="0F214D"/>
                </a:solidFill>
                <a:latin typeface="Arial"/>
                <a:cs typeface="Arial"/>
              </a:rPr>
              <a:t>صلاحيات في قاعدة البيانات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كل دور يقرأ ويكتب في نطاقه فقط، والتحقق في الخادم لا في الواجهة.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55448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52744" y="1691639"/>
            <a:ext cx="82296" cy="1737360"/>
          </a:xfrm>
          <a:prstGeom prst="rect">
            <a:avLst/>
          </a:prstGeom>
          <a:solidFill>
            <a:srgbClr val="1F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6459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400" b="1" lang="ar-EG">
                <a:solidFill>
                  <a:srgbClr val="0F214D"/>
                </a:solidFill>
                <a:latin typeface="Arial"/>
                <a:cs typeface="Arial"/>
              </a:rPr>
              <a:t>المعلم يرى بياناته فقط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103120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لا يرى بيانات زملائه، وتعديله لبياناته عبر مسار مخصص.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49039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67744" y="3886200"/>
            <a:ext cx="82296" cy="1737360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40479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400" b="1" lang="ar-EG">
                <a:solidFill>
                  <a:srgbClr val="0F214D"/>
                </a:solidFill>
                <a:latin typeface="Arial"/>
                <a:cs typeface="Arial"/>
              </a:rPr>
              <a:t>حسابات وكلمات مرور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79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دخول بالرقم القومي، وكلمة مرور مؤقتة قوية تُغيَّر عند أول دخول.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49039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52744" y="3886200"/>
            <a:ext cx="82296" cy="1737360"/>
          </a:xfrm>
          <a:prstGeom prst="rect">
            <a:avLst/>
          </a:prstGeom>
          <a:solidFill>
            <a:srgbClr val="1F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40479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400" b="1" lang="ar-EG">
                <a:solidFill>
                  <a:srgbClr val="0F214D"/>
                </a:solidFill>
                <a:latin typeface="Arial"/>
                <a:cs typeface="Arial"/>
              </a:rPr>
              <a:t>نسخ احتياطية للتعديلات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97679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كل تعديل على القاعدة له ملف استرجاع جاهز.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000" b="1" lang="ar-EG">
                <a:solidFill>
                  <a:srgbClr val="FFFFFF"/>
                </a:solidFill>
                <a:latin typeface="Arial"/>
                <a:cs typeface="Arial"/>
              </a:rPr>
              <a:t>يعمل على الهاتف ويُثبَّت كتطبيق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241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0" lang="ar-EG">
                <a:solidFill>
                  <a:srgbClr val="FBE599"/>
                </a:solidFill>
                <a:latin typeface="Arial"/>
                <a:cs typeface="Arial"/>
              </a:rPr>
              <a:t>تصميم متجاوب وزر تثبيت في الشريط العلوي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09728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1200" b="0" lang="ar-EG">
                <a:solidFill>
                  <a:srgbClr val="5B667A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465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نظام توجيه العلوم والجداول المدرسية — إدارة قوص التعليمية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27264" y="1335024"/>
            <a:ext cx="1891893" cy="4736592"/>
          </a:xfrm>
          <a:prstGeom prst="rect">
            <a:avLst/>
          </a:prstGeom>
          <a:solidFill>
            <a:srgbClr val="C9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371600"/>
            <a:ext cx="1818741" cy="4663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1554480"/>
            <a:ext cx="6949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00" b="1" lang="ar-EG">
                <a:solidFill>
                  <a:srgbClr val="0F214D"/>
                </a:solidFill>
                <a:latin typeface="Arial"/>
                <a:cs typeface="Arial"/>
              </a:rPr>
              <a:t>مناسب للاستخدام الميداني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694944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0" lang="ar-EG">
                <a:solidFill>
                  <a:srgbClr val="1B253B"/>
                </a:solidFill>
                <a:latin typeface="Arial"/>
                <a:cs typeface="Arial"/>
              </a:rPr>
              <a:t>•  شريط تنقل سفلي: الرئيسية، رجوع، آخر شاشة، القائمة.</a:t>
            </a:r>
          </a:p>
          <a:p>
            <a:pPr algn="r" rtl="1">
              <a:lnSpc>
                <a:spcPct val="125000"/>
              </a:lnSpc>
            </a:pPr>
            <a:r>
              <a:rPr sz="1800" b="0" lang="ar-EG">
                <a:solidFill>
                  <a:srgbClr val="1B253B"/>
                </a:solidFill>
                <a:latin typeface="Arial"/>
                <a:cs typeface="Arial"/>
              </a:rPr>
              <a:t>•  معاينة التقارير على الهاتف مع الطباعة والمشاركة.</a:t>
            </a:r>
          </a:p>
          <a:p>
            <a:pPr algn="r" rtl="1">
              <a:lnSpc>
                <a:spcPct val="125000"/>
              </a:lnSpc>
            </a:pPr>
            <a:r>
              <a:rPr sz="1800" b="0" lang="ar-EG">
                <a:solidFill>
                  <a:srgbClr val="1B253B"/>
                </a:solidFill>
                <a:latin typeface="Arial"/>
                <a:cs typeface="Arial"/>
              </a:rPr>
              <a:t>•  تثبيت على الشاشة الرئيسية بلا متجر تطبيقات (زر ⬇).</a:t>
            </a:r>
          </a:p>
          <a:p>
            <a:pPr algn="r" rtl="1">
              <a:lnSpc>
                <a:spcPct val="125000"/>
              </a:lnSpc>
            </a:pPr>
            <a:r>
              <a:rPr sz="1800" b="0" lang="ar-EG">
                <a:solidFill>
                  <a:srgbClr val="1B253B"/>
                </a:solidFill>
                <a:latin typeface="Arial"/>
                <a:cs typeface="Arial"/>
              </a:rPr>
              <a:t>•  تصدير Excel ومشاركته مباشرة من الهاتف.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بيانات تجريبية للعرض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000" b="1" lang="ar-EG">
                <a:solidFill>
                  <a:srgbClr val="FFFFFF"/>
                </a:solidFill>
                <a:latin typeface="Arial"/>
                <a:cs typeface="Arial"/>
              </a:rPr>
              <a:t>ما أُنجز وما بعده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109728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1200" b="0" lang="ar-EG">
                <a:solidFill>
                  <a:srgbClr val="5B667A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4465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100" b="0" lang="ar-EG">
                <a:solidFill>
                  <a:srgbClr val="5B667A"/>
                </a:solidFill>
                <a:latin typeface="Arial"/>
                <a:cs typeface="Arial"/>
              </a:rPr>
              <a:t>نظام توجيه العلوم والجداول المدرسية — إدارة قوص التعليمية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76304" y="1691639"/>
            <a:ext cx="82296" cy="4023360"/>
          </a:xfrm>
          <a:prstGeom prst="rect">
            <a:avLst/>
          </a:prstGeom>
          <a:solidFill>
            <a:srgbClr val="1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600" b="1" lang="ar-EG">
                <a:solidFill>
                  <a:srgbClr val="0F214D"/>
                </a:solidFill>
                <a:latin typeface="Arial"/>
                <a:cs typeface="Arial"/>
              </a:rPr>
              <a:t>أُنجز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•  لوحات الإدارة والمنسق والموجّه.</a:t>
            </a:r>
          </a:p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•  إدخال بيانات المدارس والمعلمين وإسناد الفصول.</a:t>
            </a:r>
          </a:p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•  الانتداب الكلي والجزئي والإجازات وإيقاف معلم الأجر.</a:t>
            </a:r>
          </a:p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•  التقارير والتصدير والتوزيع على الموجهين.</a:t>
            </a:r>
          </a:p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•  تجميع المدارس المربوطة والأداء المحسّن.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61304" y="1691639"/>
            <a:ext cx="82296" cy="4023360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6459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600" b="1" lang="ar-EG">
                <a:solidFill>
                  <a:srgbClr val="0F214D"/>
                </a:solidFill>
                <a:latin typeface="Arial"/>
                <a:cs typeface="Arial"/>
              </a:rPr>
              <a:t>القادم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10312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•  شاشة طلبات النقل (الأقدم أولًا).</a:t>
            </a:r>
          </a:p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•  إعادة الإشراف تلقائيًا عند عودة المعلم من الإجازة.</a:t>
            </a:r>
          </a:p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•  نوع إجازة «نصف أجر» بنصاب مخفض.</a:t>
            </a:r>
          </a:p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•  استكمال بيانات المدارس المتبقية.</a:t>
            </a:r>
          </a:p>
          <a:p>
            <a:pPr algn="r" rtl="1">
              <a:lnSpc>
                <a:spcPct val="110000"/>
              </a:lnSpc>
            </a:pPr>
            <a:r>
              <a:rPr sz="2000" b="0" lang="ar-EG">
                <a:solidFill>
                  <a:srgbClr val="1B253B"/>
                </a:solidFill>
                <a:latin typeface="Arial"/>
                <a:cs typeface="Arial"/>
              </a:rPr>
              <a:t>•  تدريب الموجهين على النسخة الحالية.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64008"/>
          </a:xfrm>
          <a:prstGeom prst="rect">
            <a:avLst/>
          </a:prstGeom>
          <a:solidFill>
            <a:srgbClr val="CE9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64008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4400" b="1" lang="ar-EG">
                <a:solidFill>
                  <a:srgbClr val="FFFFFF"/>
                </a:solidFill>
                <a:latin typeface="Arial"/>
                <a:cs typeface="Arial"/>
              </a:rPr>
              <a:t>شكرًا لحسن استماعكم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2600" b="0" lang="ar-EG">
                <a:solidFill>
                  <a:srgbClr val="FBE599"/>
                </a:solidFill>
                <a:latin typeface="Arial"/>
                <a:cs typeface="Arial"/>
              </a:rPr>
              <a:t>الأسئلة والمناقشة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600" b="0" lang="ar-EG">
                <a:solidFill>
                  <a:srgbClr val="FFFFFF"/>
                </a:solidFill>
                <a:latin typeface="Arial"/>
                <a:cs typeface="Arial"/>
              </a:rPr>
              <a:t>https://mabdelmoufdy-max.github.io/science-guidance/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